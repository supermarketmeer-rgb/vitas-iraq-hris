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نظام إدارة الموارد البشرية والرواتب المتكامل (HRIS Enterprise)</a:t>
            </a:r>
          </a:p>
          <a:p>
            <a:pPr algn="r">
              <a:spcAft>
                <a:spcPts val="2800"/>
              </a:spcAft>
              <a:defRPr sz="1800">
                <a:solidFill>
                  <a:srgbClr val="0D9488"/>
                </a:solidFill>
              </a:defRPr>
            </a:pPr>
            <a:r>
              <a:t>الحل التقني الاستراتيجي للتحول الرقمي، ضبط التكاليف، والامتثال القانوني الكامل</a:t>
            </a:r>
          </a:p>
          <a:p>
            <a:pPr algn="r">
              <a:spcAft>
                <a:spcPts val="2000"/>
              </a:spcAft>
              <a:defRPr sz="1400">
                <a:solidFill>
                  <a:srgbClr val="CBD5E1"/>
                </a:solidFill>
              </a:defRPr>
            </a:pPr>
            <a:r>
              <a:t>عرض القيمة الاستثمارية وكفاءة التشغيل المقدم إلى الإدارة العليا وصناع القرار</a:t>
            </a:r>
          </a:p>
          <a:p>
            <a:pPr algn="r">
              <a:defRPr sz="1300" b="1">
                <a:solidFill>
                  <a:srgbClr val="D97706"/>
                </a:solidFill>
              </a:defRPr>
            </a:pPr>
            <a:r>
              <a:t>✓ محرك عقود ذكي وديناميكي   |   ✓ رواتب وبصمة مؤتمتة 100%   |   ✓ أمان وسرعة محلية مع مزامنة سحابية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واقع إدارة الموارد البشرية التقليدية: التحديات والتكاليف الخفية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48872" y="1645920"/>
            <a:ext cx="73152" cy="44805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645920"/>
            <a:ext cx="283464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EF4444"/>
                </a:solidFill>
              </a:defRPr>
            </a:pPr>
            <a:r>
              <a:t>[كفاءة متدنية]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1. نزيف الوقت والأخطاء اليدوية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إعداد الرواتب في ملفات Excel يستغرق أياماً ويتعرض لأخطاء حسابية مكلفة.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صياغة العقود وتعديل بنودها يدوياً لكل موظف يهدر عشرات الساعات.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ضياع أرشيف الوثائق وصعوبة الوصول الفوري لملف الموظف عند الطلب.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تسجيل الإجازات ورقياً وغياب الرؤية المباشرة للأرصدة المستحقة.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91272" y="1645920"/>
            <a:ext cx="73152" cy="4480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645920"/>
            <a:ext cx="283464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</a:defRPr>
            </a:pPr>
            <a:r>
              <a:t>[مخاطر قانونية]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2. مخاطر الامتثال وغرامات العمل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صعوبة احتساب الضمان الاجتماعي وضرائب الدخل وفق القوانين الرسمية.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عقود عمل غير منضبطة قانونياً تعرض المؤسسة لقضايا ونزاعات عمالية.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غياب سجل تدقيق (Audit Trail) لمعرفة من قام بتعديل راتب أو رصيد.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عشوائية تطبيق الجزاءات والخصومات ومخالفتها لتعليمات وزارة العمل.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645920"/>
            <a:ext cx="73152" cy="44805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1645920"/>
            <a:ext cx="283464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6366F1"/>
                </a:solidFill>
              </a:defRPr>
            </a:pPr>
            <a:r>
              <a:t>[عائق تقني]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3. انقطاع الإنترنت وضعف الحماية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الأنظمة السحابية البحتة تتعطل تماماً فور انقطاع الإنترنت في الفروع.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تخوف الإدارة من وضع بيانات الرواتب الحساسة في خوادم مجهولة أو بطيئة.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صعوبة دمج أجهزة البصمة الميدانية مع قواعد البيانات المركزية.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غياب تحليلات فورية لصانع القرار حول تكلفة القوى العاملة ومعدل الدوران.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الحل المتكامل: منظومة HRIS الشاملة من الألف إلى الياء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1171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1645920"/>
            <a:ext cx="196596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[إدارة الأفراد]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ملف الموظف وعقود العمل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سجل رقمي متكامل 360 درجة لكل موظف.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محرك نماذج العقود وبنودها القابلة للتخصيص.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استبدال تلقائي للبيانات والرواتب في نصوص العقود.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أرشفة المستندات والبطاقات الوطنية بضغطة زر.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196596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[الانضباط والوقت]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حضور ذكي وبصمة حية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ربط مباشر مع أجهزة البصمة (ZKTeco/TCP).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احتساب التأخير، المغادرة المبكرة، والإضافي آلياً.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مركز موافقات إلكتروني لطلبات الإجازة والغياب.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رصيد إجازات ذكي محدث في الوقت الفعلي.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1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1645920"/>
            <a:ext cx="196596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[المالية والحسابات]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محرك الرواتب والضرائب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توليد كشوفات الرواتب لآلاف الموظفين بدقائق.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احتساب الضمان الاجتماعي والاستقطاعات الضريبية.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كشوفات بنكية جاهزة للتحويل المالي المباشر.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قسائم رواتب سرية وإشعارات للموظفين.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1645920"/>
            <a:ext cx="73152" cy="4480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1645920"/>
            <a:ext cx="196596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[الاستقرار التقني]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المعمارية الهجينة والأمان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سرعة تشغيل محلية خارقة مع دعم المزامنة السحابية.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العمل يستمر 100% حتى مع انقطاع الإنترنت الكامل.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صلاحيات أمنية دقيقة بحسب القسم والمستوى الوظيفي.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سجل تتبع ومراقبة العمليات (Audit Logging).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محرك إدارة العقود الذكي: توثيق قانوني وتوليد فوري بضغطة زر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027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5262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[محرك العقود]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كيف يحول النظام إدارة العقود إلى عملية مؤتمتة بالكامل؟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مكتبة نماذج مرنة (Contract Templates): إنشاء وتعديل نماذج عقود متعددة (عقد محدد المدة، غير محدد، تجريبي، استشاري) مع صلاحية كاملة لتعديل البنود والشروط في أي وقت من شاشة الإعدادات.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محرك المتغيرات الديناميكية (Smart Placeholders): يقوم النظام باستبدال المتغيرات آلياً بنصوص حقيقية مثل اسم الموظف، المسمى الوظيفي، الراتب الأساسي، تاريخ المباشرة، دون أي تدخل يدوي.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معاينة وطباعة A4 فورية: نافذة عرض متطورة تطبق معايير الطباعة الرسمية للشركات، مع أزرار مباشرة لتحميل العقد كـ PDF أو إرساله للطابعة.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تحديث فوري للبنود (Real-time Clauses Sync): عند تعديل أي بند في الإعدادات، ينعكس فوراً وبشكل دقيق على عقود الموظفين دون تكرار أو تشويه للتنسيق.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25312" y="1645920"/>
            <a:ext cx="73152" cy="4480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45920"/>
            <a:ext cx="480060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[قيمة ملموسة للعميل]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العائد المباشر على المنشأة من ميزة العقود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توفير 95% من وقت قسم الموارد البشرية المخصص لصياغة وتدقيق العقود الفردية.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القضاء التام على أخطاء الرواتب أو المسميات المكتوبة في العقود الورقية القديمة.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توحيد الصيغة القانونية المعتمدة للشركة وحماية حقوق العمل وواجبات الموظف.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أرشفة رقمية آمنة تتيح استدعاء عقد أي موظف خلال ثانيتين فقط عند التفتيش أو التدقيق الداخلي.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جاهزية كاملة لطباعة عقود الدفعات الكبيرة من التعيينات الجديدة دفعة واحدة.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الحضور والانصراف الذكي: ربط أجهزة البصمة وأتمتة الانضباط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4887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645920"/>
            <a:ext cx="283464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[ربط عتادي مباشر]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سحب تلقائي للبصمات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دعم بروتوكولات الاتصال المباشر مع أجهزة البصمة وبصمة الوجه (ZKTeco وغيرها).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تفريغ حركات الدخول والخروج في الوقت الحقيقي دون الاعتماد على الفلاش ميموري.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كشف تلقائي لحالات البصمة المزدوجة أو النسيان وتصحيحها ذكياً.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9127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645920"/>
            <a:ext cx="283464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[سير عمل لا ورقي]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مركز الموافقات الإلكتروني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شاشة موحدة لمدراء الأقسام لمراجعة واعتماد الإجازات والمغادرات.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مقارنة فورية بين رصيد الإجازة المتبقي والطلب المقدم قبل الموافقة.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إشعارات واضحة تحدد مسار الموافقة وتسلسل الصلاحيات الإدارية.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1463040"/>
            <a:ext cx="3337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645920"/>
            <a:ext cx="73152" cy="4480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1645920"/>
            <a:ext cx="283464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[عدالة ودقة حسابية]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ربط مباشر بالرواتب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ترحيل تلقائي لخصومات التأخير وساعات العمل الإضافي إلى مسيرات الرواتب.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القضاء على ظاهرة التحيز أو المحسوبية في تطبيق قواعد الخصم والمكافأة.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تقارير دوام تفصيلية وملخصة تساعد الإدارة على تقييم التزام الكادر.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محرك الرواتب والامتثال: صفر أخطاء وامتثال كامل للتشريعات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027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5262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[دقة مالية 100%]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أتمتة الحسابات المالية المعقدة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احتساب الراتب الإجمالي والصافي، والبدلات (سكن، نقل، طعام، مهنية) بشكل آلي.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معادلات ديناميكية لاحتساب ضريبة الدخل السنوية والشهرية وفق الشرائح الرسمية.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تطبيق استقطاعات الضمان الاجتماعي (حصة الموظف وحصة الشركة) بدقة متناهية.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إدارة السلف والقروض وجدولتها على أقساط تخصم تلقائياً من المسير الشهري.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إصدار كشف البنك الموحد وتصديره بصيغة Excel المتوافقة مع بوابات التحويل البنكي.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25312" y="1645920"/>
            <a:ext cx="73152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45920"/>
            <a:ext cx="480060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</a:defRPr>
            </a:pPr>
            <a:r>
              <a:t>[أثر مالي مباشر]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ماذا يكسب المدير المالي (CFO) وإدارة الشركة؟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تقليص مدة إغلاق الرواتب الشهرية من 4 أيام عمل إلى أقل من 30 دقيقة فقط.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تجنب الغرامات المالية والعقوبات القانونية الناتجة عن أخطاء الضمان والضريبة.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شفافية مطلقة أمام الموظفين عبر قسيمة الراتب الرقمية (Digital Payslip).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حماية أمنية مشددة وسرية مطلقة لبيانات الرواتب عبر صلاحيات وصول مشفرة ومقيدة.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مقارنة تكلفة الرواتب عبر الشهور وتحليل الميزانيات التقديرية بدقة.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المعمارية الهجينة الذكية: استمرارية عمل لا تتوقف مع سرعة وأمان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027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5262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[حصرية هندسية]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المشكلة الكبرى للأنظمة السحابية والحل المبتكر في نظامنا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التحدي في السوق المحلي: انقطاع شبكة الإنترنت أو بطء خطوط الاتصال يؤدي لشلل كامل في عمل الإدارات والمصانع والفروع إذا كان النظام سحابياً فقط.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معمارية نظامنا المبتكرة (Hybrid Engine):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  1. أداء محلي فائق السرعة (Local First): يعمل النظام على الشبكة الداخلية بأقصى سرعة استجابة (Zero Latency) حتى لو انقطعت خدمة الإنترنت لأيام.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  2. مزامنة سحابية تلقائية ذكية (Auto Cloud Sync): فور توفر الاتصال، يقوم النظام بمزامنة البيانات المشفرة إلى السحابة المركزية أو قاعدة بيانات الفروع بأمان كامل.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  3. نسخ احتياطي متعدد (Fail-safe Backup): لا مجال لضياع أي سجل أو حركة حضور أو بيانات مالية مهما كانت الظروف.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25312" y="1645920"/>
            <a:ext cx="73152" cy="4480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45920"/>
            <a:ext cx="480060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[اعتمادية تقنية فائقة]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لماذا يفضل مسؤولو تقنية المعلومات (IT Directors) نظامنا؟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تحكم كامل في البيانات (Data Sovereignty): إمكانية استضافة البيانات محلياً داخل خوادم الشركة أو على سحابة خاصة.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استهلاك منخفض لموارد الخادم وخفة تشغيل عالية بالاعتماد على أحدث التقنيات الحديثة (Node.js, SQLite/PostgreSQL, React).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سهولة الصيانة والتحديث المركزي دون تعطيل عمل موظفي الموارد البشرية.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توافق مع مختلف بيئات العمل: أجهزة الكمبيوتر، الأجهزة اللوحية، والهواتف الذكية.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العائد المالي على الاستثمار (ROI): النظام يدفع تكلفته بنفسه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63040"/>
            <a:ext cx="24688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D9488"/>
                </a:solidFill>
              </a:defRPr>
            </a:pPr>
            <a:r>
              <a:t>75%+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</a:defRPr>
            </a:pPr>
            <a:r>
              <a:t>توفير وقت قسم الـ HR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أتمتة الرواتب، العقود، والإجازات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4688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D9488"/>
                </a:solidFill>
              </a:defRPr>
            </a:pPr>
            <a:r>
              <a:t>0%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</a:defRPr>
            </a:pPr>
            <a:r>
              <a:t>نسبة أخطاء الحسابات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محرك رواتب ومطابقة حضور آلي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463040"/>
            <a:ext cx="24688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D9488"/>
                </a:solidFill>
              </a:defRPr>
            </a:pPr>
            <a:r>
              <a:t>100%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</a:defRPr>
            </a:pPr>
            <a:r>
              <a:t>التخلص من الهدر الورقي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أرشفة رقمية وعقود إلكترونية موثقة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463040"/>
            <a:ext cx="24688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D9488"/>
                </a:solidFill>
              </a:defRPr>
            </a:pPr>
            <a:r>
              <a:t>&lt; 3 أشهر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E293B"/>
                </a:solidFill>
              </a:defRPr>
            </a:pPr>
            <a:r>
              <a:t>فترة استرداد الاستثمار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وفر مباشر في التكاليف التشغيلية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840480"/>
            <a:ext cx="10424160" cy="2468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800"/>
              </a:spcAft>
              <a:defRPr sz="1700" b="1">
                <a:solidFill>
                  <a:srgbClr val="D97706"/>
                </a:solidFill>
              </a:defRPr>
            </a:pPr>
            <a:r>
              <a:t>معادلة الوفر المالي التقديري لشركة تضم 100 موظف:</a:t>
            </a:r>
          </a:p>
          <a:p>
            <a:pPr algn="r"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وفر ساعات العمل الإدارية: توفير ما لا يقل عن 60 ساعة شهرياً كانت تضيع في تجميع بصمات الدوام وصياغة العقود وتعديل جداول الرواتب (وفر مالي يتجاوز 1,500$ شهرياً).</a:t>
            </a:r>
          </a:p>
          <a:p>
            <a:pPr algn="r">
              <a:spcAft>
                <a:spcPts val="600"/>
              </a:spcAft>
              <a:defRPr sz="1300">
                <a:solidFill>
                  <a:srgbClr val="F1F5F9"/>
                </a:solidFill>
              </a:defRPr>
            </a:pPr>
            <a:r>
              <a:t>• منع التسرب المالي: ضبط دقيق للدقائق الضائعة، الغيابات غير الموثقة، وأخطاء حساب ساعات الإضافي غير المصرح بها.</a:t>
            </a:r>
          </a:p>
          <a:p>
            <a:pPr algn="r">
              <a:defRPr sz="1300">
                <a:solidFill>
                  <a:srgbClr val="F1F5F9"/>
                </a:solidFill>
              </a:defRPr>
            </a:pPr>
            <a:r>
              <a:t>• حماية السمعة والتكاليف القضائية: تجنب النزاعات العمالية والغرامات المفروضة من لجان تفتيش العمل بسبب العقود غير المطابقة أو تأخر صرف المستحقات.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واجهة استخدام عصرية: تبسيط العمليات وتجربة عمل مريحة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027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5262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[بساطة وسرعة]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تصميم يلغي الحاجة لتدريب طويل ومعقد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واجهة عربية كاملة مصممة وفق أحدث معايير تجربة المستخدم (Enterprise UX).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لوحات مؤشرات قيادية (Dashboards) تفاعلية تعرض حالة القوى العاملة، الغيابات، وتوزيع الرواتب بلحظة واحدة.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نظام فلترة وبحث فوري وسريع بين آلاف الموظفين والسجلات.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إمكانية العمل بالوضع المظلم (Dark Mode) أو الفاتح حسب تفضيل المستخدم ومستوى الإضاءة.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تدرج بصري وألوان متناسقة تمنح إحساساً بالفخامة والاحترافية العالية.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25312" y="1645920"/>
            <a:ext cx="73152" cy="4480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45920"/>
            <a:ext cx="480060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[تبني سلس للنظام]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ماذا يعني ذلك لمدير الموارد البشرية والموظفين؟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اعتماد فوري للنظام من قبل موظفي الموارد البشرية خلال أيام معدودة دون مقاومة للتغيير.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تقليص أخطاء الإدخال بفضل الحقول الذكية والتنبيهات المسبقة عند وجود تعارض في البيانات.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تصدير واستيراد مرن لكافة التقارير بصيغ Excel وPDF جاهزة للعرض الفوري في اجتماعات مجلس الإدارة.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مرونة في الوصول من مختلف الأجهزة داخل الشبكة دون الحاجة لتثبيت برمجيات معقدة على كل جهاز.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خطة التحول الرقمي: تطبيق سلس، تدريب شامل، ودعم مستمر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1171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1645920"/>
            <a:ext cx="196596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[الأسبوع 1]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المرحلة 1: التهيئة والبيانات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استيراد بيانات الموظفين الحالية من ملفات Excel السابقة.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تهيئة الهيكل التنظيمي، الأقسام، والمسميات الوظيفية.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إعداد نماذج العقود المعتمدة وشروطها الخاصة.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196596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[الأسبوع 2]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المرحلة 2: ربط البصمة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ربط أجهزة البصمة بالفروع والتأكد من استقرار تدفق البيانات.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ضبط جداول الورديات، أوقات السماح، وسياسات التأخير.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إجراء تجارب محاكاة لعملية البصمة اليومية.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1" y="1645920"/>
            <a:ext cx="73152" cy="44805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1645920"/>
            <a:ext cx="196596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0D9488"/>
                </a:solidFill>
              </a:defRPr>
            </a:pPr>
            <a:r>
              <a:t>[الأسبوع 3]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المرحلة 3: التدريب والتشغيل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تدريب عملي مكثف لفريق الموارد البشرية والإدارة المالية.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إصدار أول مسير رواتب تجريبي ومطابقته بدقة 100%.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تفعيل صلاحيات المستخدمين والمدراء المباشرين.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1645920"/>
            <a:ext cx="73152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1645920"/>
            <a:ext cx="196596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</a:defRPr>
            </a:pPr>
            <a:r>
              <a:t>[الأسبوع 4]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المرحلة 4: الانطلاق والدعم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الانطلاق الرسمي للنظام والاستغناء عن المعاملات الورقية.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دعم فني استباقي ومتابعة يومية لأول شهر تشغيلي.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تحديثات وتطويرات دورية لضمان استمرارية الريادة.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نظام إدارة الموارد البشرية الشامل (HRIS)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لماذا يختار عملاؤنا نظامنا مقارنة بالبدائل الأخرى في السوق؟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0272" y="1645920"/>
            <a:ext cx="73152" cy="44805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52628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</a:defRPr>
            </a:pPr>
            <a:r>
              <a:t>[تفوق كامل على اليدوي]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مقارنة بنظام ملفات Excel والحلول اليدوية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الحلول اليدوية: معرضة للتلف، الضياع، التلاعب، ولا توفر أي سرية لبيانات الرواتب، وتستنزف مئات الساعات شهرياً.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نظامنا الرقمي: قاعدة بيانات مركزية مشفرة، سجل تدقيق لكل نقرة، وحسابات رواتب وبصمات فورية ودقيقة 100% دون أي فرصة للتلاعب البشري.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25312" y="1645920"/>
            <a:ext cx="73152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45920"/>
            <a:ext cx="480060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</a:defRPr>
            </a:pPr>
            <a:r>
              <a:t>[تفوق على الأنظمة الأجنبية]</a:t>
            </a:r>
          </a:p>
          <a:p>
            <a:pPr algn="r">
              <a:spcAft>
                <a:spcPts val="800"/>
              </a:spcAft>
              <a:defRPr sz="1600" b="1">
                <a:solidFill>
                  <a:srgbClr val="1E293B"/>
                </a:solidFill>
              </a:defRPr>
            </a:pPr>
            <a:r>
              <a:t>مقارنة بالأنظمة السحابية المستوردة (Global SaaS)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الأنظمة الأجنبية المستوردة: تكاليف اشتراك شهرية باهظة بالدولار لكل موظف، لا تفهم خصوصية قانون العمل والضرائب المحلية، وتتوقف فور انقطاع الإنترنت.</a:t>
            </a:r>
          </a:p>
          <a:p>
            <a:pPr algn="r">
              <a:spcAft>
                <a:spcPts val="400"/>
              </a:spcAft>
              <a:defRPr sz="1200">
                <a:solidFill>
                  <a:srgbClr val="64748B"/>
                </a:solidFill>
              </a:defRPr>
            </a:pPr>
            <a:r>
              <a:t>•  نظامنا المحلي المتخصص: صُمم خصيصاً ليطابق القوانين والضرائب المحلية بدقة، يعمل محلياً وسحابياً معاً، مع دعم فني عربي مباشر وتكلفة استثمارية عادلة ومجدية.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جاهزون للارتقاء بإدارة مواردكم البشرية إلى العصر الرقمي؟</a:t>
            </a:r>
          </a:p>
          <a:p>
            <a:pPr algn="r">
              <a:spcAft>
                <a:spcPts val="2400"/>
              </a:spcAft>
              <a:defRPr sz="2000" b="1">
                <a:solidFill>
                  <a:srgbClr val="0D9488"/>
                </a:solidFill>
              </a:defRPr>
            </a:pPr>
            <a:r>
              <a:t>ندعوكم لتجربة عرض حي مباشر (Live Interactive Demo) للنظام بكافة مزاياه</a:t>
            </a:r>
          </a:p>
          <a:p>
            <a:pPr algn="r"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ما سنقدمه لكم في جلسة العرض التجريبي: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1. استعراض عملي فوري لتوليد عقد عمل مخصص وطباعته بضغطة زر واحدة.</a:t>
            </a:r>
          </a:p>
          <a:p>
            <a:pPr algn="r"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2. ربط تجريبي لجهاز بصمة وسحب الحركات ومطابقتها على جدول الورديات.</a:t>
            </a:r>
          </a:p>
          <a:p>
            <a:pPr algn="r"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3. احتساب مسير رواتب كامل شامل الاستقطاعات الضريبية والضمان وإصدار قسائم الرواتب.</a:t>
            </a:r>
          </a:p>
          <a:p>
            <a:pPr algn="r"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4. الإجابة عن كافة التساؤلات الفنية وتقديم خطة زمنية مفصلة للتنفيذ تلائم حجم مؤسستكم.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